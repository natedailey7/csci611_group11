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xz2FputmIF2USbzye1Xb3Gczr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7AF68E-6E49-4780-8B43-C304ECB92DBD}">
  <a:tblStyle styleId="{447AF68E-6E49-4780-8B43-C304ECB92DB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3" name="Google Shape;42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9" name="Google Shape;5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0" name="Google Shape;52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Trebuchet MS"/>
              <a:buNone/>
            </a:pPr>
            <a:r>
              <a:rPr b="0" i="0" lang="en-US" sz="2800" u="none" cap="none" strike="noStrike">
                <a:solidFill>
                  <a:srgbClr val="CADCFC"/>
                </a:solidFill>
                <a:latin typeface="Trebuchet MS"/>
                <a:ea typeface="Trebuchet MS"/>
                <a:cs typeface="Trebuchet MS"/>
                <a:sym typeface="Trebuchet MS"/>
              </a:rPr>
              <a:t>Cross-Domain Evaluation of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Retrieval-Augmented Generation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 Controlled Study of Domain Mismatch in RAG Pipelines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Aditya Jekkula  ·  Ibaad Mohammed  ·  Nate Dailey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Advanced Topics in AI  ·  May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What We'll Cover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60" y="1325880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1325880"/>
            <a:ext cx="384048" cy="384048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65760" y="13258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04672" y="1362456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Introduction &amp; Research 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" y="1783080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1783080"/>
            <a:ext cx="384048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1783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04672" y="1819656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Datasets Selected &amp; Why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65760" y="2240280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2240280"/>
            <a:ext cx="384048" cy="38404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65760" y="2240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04672" y="2276856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Pipeline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65760" y="2697480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65760" y="2697480"/>
            <a:ext cx="384048" cy="384048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65760" y="2697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04672" y="2734056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Retrievers: BM25 &amp; Dense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65760" y="3154680"/>
            <a:ext cx="411480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04672" y="3191256"/>
            <a:ext cx="3611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Generator &amp; LLM-Only 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754880" y="1325880"/>
            <a:ext cx="402336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754880" y="1325880"/>
            <a:ext cx="384048" cy="38404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54880" y="13258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193792" y="1362456"/>
            <a:ext cx="3520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Evaluation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754880" y="1783080"/>
            <a:ext cx="402336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754880" y="1783080"/>
            <a:ext cx="384048" cy="384048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54880" y="17830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193792" y="1819656"/>
            <a:ext cx="3520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Results &amp; Quantitative Analysis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754880" y="2240280"/>
            <a:ext cx="402336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754880" y="2240280"/>
            <a:ext cx="384048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754880" y="2240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193792" y="2276856"/>
            <a:ext cx="3520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Qualitative Examples &amp; Failures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754880" y="2697480"/>
            <a:ext cx="402336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754880" y="2697480"/>
            <a:ext cx="384048" cy="384048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754880" y="2697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193792" y="2734056"/>
            <a:ext cx="3520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Problem with RAG in the Wild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65760" y="1325880"/>
            <a:ext cx="512064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02920" y="141732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Why RAG?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502920" y="1783080"/>
            <a:ext cx="48463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LLMs have fixed knowledge cutoffs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They hallucinate facts not seen in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They cannot access proprietary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RAG fixes this — but only if retrieval 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502920" y="31546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The Gap We Study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02920" y="3520440"/>
            <a:ext cx="48463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happens when query domain ≠ corpus domain?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Does bad retrieval hurt more than no retrieval?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Where does the pipeline fail — retrieval or generation?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669280" y="1325880"/>
            <a:ext cx="3200400" cy="34747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806440" y="14630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Trebuchet MS"/>
                <a:ea typeface="Trebuchet MS"/>
                <a:cs typeface="Trebuchet MS"/>
                <a:sym typeface="Trebuchet MS"/>
              </a:rPr>
              <a:t>Research Questions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806440" y="1874520"/>
            <a:ext cx="256032" cy="256032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806440" y="187452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126480" y="1828800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How does cross-domain retrieval affect relevance (Recall@K)?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806440" y="2624328"/>
            <a:ext cx="256032" cy="256032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806440" y="262432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126480" y="2578608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Does domain mismatch hurt generation quality (F1, EM)?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806440" y="3374136"/>
            <a:ext cx="256032" cy="256032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806440" y="337413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126480" y="3328416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Where does the pipeline fail — retrieval or generation?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806440" y="4123944"/>
            <a:ext cx="256032" cy="256032"/>
          </a:xfrm>
          <a:prstGeom prst="ellipse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806440" y="412394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126480" y="4078224"/>
            <a:ext cx="2606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Does bad retrieval hurt more than no retrieval at all?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Three Datasets — Chosen for Domain Contrast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74320" y="1325880"/>
            <a:ext cx="2788920" cy="3337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274320" y="1325880"/>
            <a:ext cx="278892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65760" y="135331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SQuAD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84048" y="192024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84048" y="212140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Wikipedia (structured passages)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84048" y="257860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Answer Type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84048" y="277977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Short extractive span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84048" y="323697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Why chosen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84048" y="343814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Passage-specific questions. Perfect in-domain baseline. RAG should excel here.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84048" y="3895344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Corpus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84048" y="409651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87K train examples → 5K corpus pool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200400" y="1325880"/>
            <a:ext cx="2788920" cy="3337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200400" y="1325880"/>
            <a:ext cx="2788920" cy="502920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291840" y="135331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Natural Questions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310128" y="192024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5BA8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310128" y="212140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Wikipedia (Google queries)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310128" y="257860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5BA8"/>
                </a:solidFill>
                <a:latin typeface="Calibri"/>
                <a:ea typeface="Calibri"/>
                <a:cs typeface="Calibri"/>
                <a:sym typeface="Calibri"/>
              </a:rPr>
              <a:t>Answer Type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310128" y="277977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Short extractive answer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310128" y="323697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5BA8"/>
                </a:solidFill>
                <a:latin typeface="Calibri"/>
                <a:ea typeface="Calibri"/>
                <a:cs typeface="Calibri"/>
                <a:sym typeface="Calibri"/>
              </a:rPr>
              <a:t>Why chosen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310128" y="343814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search queries — more natural than SQuAD. Tests query-style mismatch.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310128" y="3895344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A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5BA8"/>
                </a:solidFill>
                <a:latin typeface="Calibri"/>
                <a:ea typeface="Calibri"/>
                <a:cs typeface="Calibri"/>
                <a:sym typeface="Calibri"/>
              </a:rPr>
              <a:t>Corpus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3310128" y="409651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300K+ examples → 2K corpus pool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126480" y="1325880"/>
            <a:ext cx="2788920" cy="3337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126480" y="1325880"/>
            <a:ext cx="2788920" cy="5029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217920" y="135331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TriviaQA (rc)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236208" y="192024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Domain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236208" y="212140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Trivia / quiz 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6236208" y="2578608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Answer Type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236208" y="277977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Short extractive answer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236208" y="3236976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Why chosen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236208" y="343814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Entertainment, sport, history — genuinely different domain from Wikipedia text.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236208" y="3895344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Corpus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236208" y="409651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138K examples → 3K corpus pool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Why NOT PubMedQA? Ground truth long_answer does not appear in source abstracts → Recall@K always 0% regardless of retrieval quality. Replaced with TriviaQA for clean, comparable evaluation.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RAG Pipeline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228600" y="1828800"/>
            <a:ext cx="160020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28600" y="18745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Query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28600" y="233172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User question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828800" y="2240280"/>
            <a:ext cx="320040" cy="1828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1965960" y="1828800"/>
            <a:ext cx="1600200" cy="1005840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965960" y="18745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Retriever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1965960" y="233172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BM25 or Dense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566160" y="2240280"/>
            <a:ext cx="320040" cy="1828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703320" y="1828800"/>
            <a:ext cx="1600200" cy="10058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703320" y="18745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Top-K Chunks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703320" y="233172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k=5 retrieved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303520" y="2240280"/>
            <a:ext cx="320040" cy="1828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440680" y="1828800"/>
            <a:ext cx="160020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440680" y="18745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440680" y="233172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Qwen 0.5-7B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040880" y="2240280"/>
            <a:ext cx="320040" cy="1828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7178040" y="1828800"/>
            <a:ext cx="1600200" cy="100584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7178040" y="187452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Answer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178040" y="233172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Final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28600" y="3246120"/>
            <a:ext cx="1600200" cy="9144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28600" y="3291840"/>
            <a:ext cx="1600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LLM-Only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228600" y="365760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retrieval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828800" y="3520440"/>
            <a:ext cx="3520440" cy="18288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349240" y="3246120"/>
            <a:ext cx="1737360" cy="91440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349240" y="32918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349240" y="36576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Qwen 0.5-7B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086600" y="3246120"/>
            <a:ext cx="1737360" cy="91440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7086600" y="32918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Answer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7086600" y="36576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228600" y="15087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RAG Path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228600" y="29718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LLM-Only Baseline Path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Text Chunking Strategy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65760" y="1325880"/>
            <a:ext cx="475488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02920" y="1417320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Why Chunking?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02920" y="1783080"/>
            <a:ext cx="44805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Retrieving entire documents is too coarse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Smaller chunks = more precise retrieval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Overlap prevents losing context at boundaries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Sentence-aware: never cuts mid-sentence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02920" y="2999232"/>
            <a:ext cx="4480560" cy="365760"/>
          </a:xfrm>
          <a:prstGeom prst="rect">
            <a:avLst/>
          </a:prstGeom>
          <a:solidFill>
            <a:srgbClr val="F7F9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94360" y="303580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Max chunk size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2468880" y="303580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250 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02920" y="3429000"/>
            <a:ext cx="4480560" cy="365760"/>
          </a:xfrm>
          <a:prstGeom prst="rect">
            <a:avLst/>
          </a:prstGeom>
          <a:solidFill>
            <a:srgbClr val="F7F9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94360" y="346557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Overlap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2468880" y="3465576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50 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02920" y="3858768"/>
            <a:ext cx="4480560" cy="365760"/>
          </a:xfrm>
          <a:prstGeom prst="rect">
            <a:avLst/>
          </a:prstGeom>
          <a:solidFill>
            <a:srgbClr val="F7F9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94360" y="389534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Splitting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2468880" y="389534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NLTK sent_tokenize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502920" y="4288536"/>
            <a:ext cx="4480560" cy="365760"/>
          </a:xfrm>
          <a:prstGeom prst="rect">
            <a:avLst/>
          </a:prstGeom>
          <a:solidFill>
            <a:srgbClr val="F7F9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94360" y="43251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Dedup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468880" y="432511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Identical chunks removed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303520" y="1325880"/>
            <a:ext cx="3520440" cy="219456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5440680" y="1338625"/>
            <a:ext cx="3246120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 chunk_text(text,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max_words=250, overlap=50):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sentences = sent_tokenize(text)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chunks, chunk, n = [], [],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for sent in sentences: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words = sent.split()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    if n + len(words) &gt; max_words: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chunks.append(' '.join(chunk))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ow = ' '.join(chunk).split()[-overlap:]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chunk = [' '.join(ow)]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n = len(ow)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chunk.append(sent)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n += len(words)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chunks.append(' '.join(chunk))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return chunks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6" name="Google Shape;206;p6"/>
          <p:cNvGraphicFramePr/>
          <p:nvPr/>
        </p:nvGraphicFramePr>
        <p:xfrm>
          <a:off x="5303520" y="36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{447AF68E-6E49-4780-8B43-C304ECB92DBD}</a:tableStyleId>
              </a:tblPr>
              <a:tblGrid>
                <a:gridCol w="1463050"/>
                <a:gridCol w="1005850"/>
                <a:gridCol w="105155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Chunks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SQuAD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842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NQ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1,983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TriviaQA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5,409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BM25 — Sparse Keyword Retrieval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65760" y="1325880"/>
            <a:ext cx="4846320" cy="3474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02920" y="1417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How BM25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02920" y="1783080"/>
            <a:ext cx="4572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Purely lexical — no semantic understanding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Scores chunks by term frequency (TF) and inverse document frequency (IDF)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Penalizes long documents (length normalization)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Uses BM25Okapi from rank_bm25 library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Deduplication filter prevents same chunk appearing multiple times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02920" y="34930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Strengths vs Weaknesses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502920" y="3794760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Fast — no GPU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02920" y="405079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Interpretable scores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02920" y="4306824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Strong on exact keyword matches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02920" y="456285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C65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2DC653"/>
                </a:solidFill>
                <a:latin typeface="Calibri"/>
                <a:ea typeface="Calibri"/>
                <a:cs typeface="Calibri"/>
                <a:sym typeface="Calibri"/>
              </a:rPr>
              <a:t>✓ Works well with named entities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2743200" y="3794760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✗ No semantic understanding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2743200" y="4050792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✗ Fails on synonyms / paraphrases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2743200" y="430682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✗ Sensitive to vocabulary mismatch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394960" y="1325880"/>
            <a:ext cx="3474720" cy="21031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532120" y="1366335"/>
            <a:ext cx="3200400" cy="1883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 retrieve_bm25(query,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bm25_idx, chunks, k=5):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scores = bm25_idx.get_scores(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query.split())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idx = np.argsort(scores)[::-1]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results, seen = [], set()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for i in idx: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text = chunks[i]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    if text not in seen: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results.append(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(text, float(scores[i])))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seen.add(text)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    if len(results)==k: break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return results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9" name="Google Shape;229;p7"/>
          <p:cNvGraphicFramePr/>
          <p:nvPr/>
        </p:nvGraphicFramePr>
        <p:xfrm>
          <a:off x="539496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{447AF68E-6E49-4780-8B43-C304ECB92DBD}</a:tableStyleId>
              </a:tblPr>
              <a:tblGrid>
                <a:gridCol w="1737350"/>
                <a:gridCol w="914400"/>
                <a:gridCol w="82295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SQuAD→SQuAD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0.584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Trivia→Trivia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0.172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SQuAD→Trivia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Trivia→SQuAD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Dense Retrieval — Semantic Embeddings (MiniLM + FAISS)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365760" y="1325880"/>
            <a:ext cx="4846320" cy="3474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502920" y="1417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How Dense Retrieval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02920" y="1783080"/>
            <a:ext cx="4572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Encodes query and chunks into 384-dim embedding vectors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Model: all-MiniLM-L6-v2 — distilled BERT, 80M params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Retrieval by L2 distance search using FAISS IndexFlatL2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Understands semantic meaning: synonyms and paraphrases can match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Exact search (no approximation) — corpus is small enough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502920" y="34930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Why MiniLM over larger models?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502920" y="3794760"/>
            <a:ext cx="45720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Strong accuracy-efficiency tradeoff for general semantic similarity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NOT fine-tuned on our datasets — reflects general semantic knowledge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 enough for N=200 × 3 corpora within Colab session limits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394960" y="1325880"/>
            <a:ext cx="3474720" cy="21031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532120" y="1352481"/>
            <a:ext cx="3200400" cy="1883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def retrieve_dense(query,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faiss_idx, chunks, k=5):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q_emb = embed_model.encode(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[query], convert_to_numpy=True)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D, I = faiss_idx.search(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q_emb, k*3)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results, seen = [], set()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for dist, idx in zip(D[0],I[0]):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    if idx &lt; len(chunks):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text = chunks[idx]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if text not in seen: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results.append((text,dist))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      seen.add(text)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    if len(results)==k: break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0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 return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6" name="Google Shape;246;p8"/>
          <p:cNvGraphicFramePr/>
          <p:nvPr/>
        </p:nvGraphicFramePr>
        <p:xfrm>
          <a:off x="539496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{447AF68E-6E49-4780-8B43-C304ECB92DBD}</a:tableStyleId>
              </a:tblPr>
              <a:tblGrid>
                <a:gridCol w="1737350"/>
                <a:gridCol w="914400"/>
                <a:gridCol w="822950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Recall@5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SQuAD→SQuAD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0.792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Trivia→Trivia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0.246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SQuAD→Trivia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Trivia→SQuAD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Qwen 2.5-0.5B-Instruct — The Generator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65760" y="1371600"/>
            <a:ext cx="192024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65760" y="1481328"/>
            <a:ext cx="192024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0.5B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65760" y="1954987"/>
            <a:ext cx="1920240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2423160" y="1371600"/>
            <a:ext cx="1920240" cy="1005840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2423160" y="1481328"/>
            <a:ext cx="192024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float16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2423160" y="1954987"/>
            <a:ext cx="1920240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480560" y="1371600"/>
            <a:ext cx="1920240" cy="100584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480560" y="1412055"/>
            <a:ext cx="192024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NVIDIA GTX 1650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480560" y="1954987"/>
            <a:ext cx="1920240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537960" y="1371600"/>
            <a:ext cx="1920240" cy="100584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537960" y="1481328"/>
            <a:ext cx="1920240" cy="5532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537960" y="1954987"/>
            <a:ext cx="1920240" cy="352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Max New Tokens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365760" y="2514600"/>
            <a:ext cx="4023360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02920" y="26060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A8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E5BA8"/>
                </a:solidFill>
                <a:latin typeface="Trebuchet MS"/>
                <a:ea typeface="Trebuchet MS"/>
                <a:cs typeface="Trebuchet MS"/>
                <a:sym typeface="Trebuchet MS"/>
              </a:rPr>
              <a:t>RAG Prompt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02920" y="2971800"/>
            <a:ext cx="3749040" cy="1600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40080" y="3081528"/>
            <a:ext cx="3474720" cy="138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'Answer using the information in the context below.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Give a concise, direct answer.'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'Context: {context}'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'Question: {question}'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'Answer:'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4572000" y="2514600"/>
            <a:ext cx="4206240" cy="2240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4709160" y="26060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Trebuchet MS"/>
                <a:ea typeface="Trebuchet MS"/>
                <a:cs typeface="Trebuchet MS"/>
                <a:sym typeface="Trebuchet MS"/>
              </a:rPr>
              <a:t>LLM-Only Prompt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709160" y="2971800"/>
            <a:ext cx="3931920" cy="1600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846320" y="3081528"/>
            <a:ext cx="3657600" cy="138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'Answer the following question 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accurately and concisely 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 possible.'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'Question: {question}'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onsolas"/>
                <a:ea typeface="Consolas"/>
                <a:cs typeface="Consolas"/>
                <a:sym typeface="Consolas"/>
              </a:rPr>
              <a:t>'Answer:'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Generation cleanup: split on 'Human:', 'Question:', 'You are an AI' to remove model leakage artifacts.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Evaluation Metrics — Independent at Each Stage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65760" y="1371600"/>
            <a:ext cx="416052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365760" y="1371600"/>
            <a:ext cx="4160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75488" y="13716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Recall@K  ·  Retrieval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75488" y="1847088"/>
            <a:ext cx="2560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Does the correct answer appear in the top-K retrieved chunks? Uses 80% token overlap threshold.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3108960" y="1847088"/>
            <a:ext cx="1307592" cy="1051560"/>
          </a:xfrm>
          <a:prstGeom prst="rect">
            <a:avLst/>
          </a:prstGeom>
          <a:solidFill>
            <a:srgbClr val="F7F9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3154680" y="1892808"/>
            <a:ext cx="12161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hit=1 if 80% of answer tokens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appear in any chunk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4800600" y="1371600"/>
            <a:ext cx="416052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4800600" y="1371600"/>
            <a:ext cx="4160520" cy="411480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4910328" y="137160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MRR  ·  Retrieval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4910328" y="1847088"/>
            <a:ext cx="2560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Mean Reciprocal Rank — rank of the first correct chunk. Rewards higher-ranked correct chunks.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7543800" y="1847088"/>
            <a:ext cx="1307592" cy="1051560"/>
          </a:xfrm>
          <a:prstGeom prst="rect">
            <a:avLst/>
          </a:prstGeom>
          <a:solidFill>
            <a:srgbClr val="F7F9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7589520" y="1892808"/>
            <a:ext cx="12161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MRR = 1/rank of first hit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(0 if no hit in top-K)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365760" y="3154680"/>
            <a:ext cx="416052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365760" y="3154680"/>
            <a:ext cx="4160520" cy="4114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475488" y="31546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Exact Match (EM)  · 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475488" y="3630168"/>
            <a:ext cx="2560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if normalized prediction exactly matches normalized ground truth. Strict metric.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108960" y="3630168"/>
            <a:ext cx="1307592" cy="1051560"/>
          </a:xfrm>
          <a:prstGeom prst="rect">
            <a:avLst/>
          </a:prstGeom>
          <a:solidFill>
            <a:srgbClr val="F7F9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3154680" y="3675888"/>
            <a:ext cx="12161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normalize: lowercase,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remove punctuation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4800600" y="3154680"/>
            <a:ext cx="4160520" cy="1645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4800600" y="3154680"/>
            <a:ext cx="4160520" cy="41148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4910328" y="31546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F1 Score  · 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4910328" y="3630168"/>
            <a:ext cx="2560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Token-level overlap between prediction and ground truth. Rewards partial matches.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7543800" y="3630168"/>
            <a:ext cx="1307592" cy="1051560"/>
          </a:xfrm>
          <a:prstGeom prst="rect">
            <a:avLst/>
          </a:prstGeom>
          <a:solidFill>
            <a:srgbClr val="F7F9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7589520" y="3675888"/>
            <a:ext cx="12161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F1 = 2·P·R/(P+R)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1E2761"/>
                </a:solidFill>
                <a:latin typeface="Consolas"/>
                <a:ea typeface="Consolas"/>
                <a:cs typeface="Consolas"/>
                <a:sym typeface="Consolas"/>
              </a:rPr>
              <a:t>P=precision, R=recall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Failure Classification (Dense-RAG): Retrieval Failure = Recall@K=0 · Generation Failure = Recall=1 but F1&lt;0.3 · Success = Recall=1 and F1≥0.3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Quantitative Results — All Scenarios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0" name="Google Shape;320;p11"/>
          <p:cNvGraphicFramePr/>
          <p:nvPr/>
        </p:nvGraphicFramePr>
        <p:xfrm>
          <a:off x="27432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{447AF68E-6E49-4780-8B43-C304ECB92DBD}</a:tableStyleId>
              </a:tblPr>
              <a:tblGrid>
                <a:gridCol w="1600200"/>
                <a:gridCol w="960125"/>
                <a:gridCol w="822950"/>
                <a:gridCol w="731525"/>
                <a:gridCol w="731525"/>
                <a:gridCol w="822950"/>
                <a:gridCol w="822950"/>
                <a:gridCol w="1188725"/>
              </a:tblGrid>
              <a:tr h="51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LLM-Only F1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BM25 R@5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Dense R@5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BM25-RAG F1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Dense-RAG F1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 vs Baseline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1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A: SQuAD→SQuAD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In-domain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DC6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0.126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C6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DC65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+0.098 ↑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B: NQ→NQ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In-domain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394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39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+0.001 ↑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C: Trivia→Trivia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In-domain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0.255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0.060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394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39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+0.019 ↑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D: SQuAD→NQ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Cross-domain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394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39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+0.002 ↑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E: SQuAD→Trivia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Cross-domain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394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39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-0.001 ↓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F: Trivia→SQuAD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Cross-domain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0.040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0.070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394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6394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-0.008 ↓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1" name="Google Shape;321;p11"/>
          <p:cNvSpPr/>
          <p:nvPr/>
        </p:nvSpPr>
        <p:spPr>
          <a:xfrm>
            <a:off x="76200" y="4914208"/>
            <a:ext cx="9067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finding: Only Scenario A (in-domain) shows meaningful RAG improvement (+9.8% F1). Cross-domain scenarios show minimal or negative impact; near-zero F1 scores across all methods.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Retrieval Quality Drives F1 — Context Without Recall Adds Nothing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325880"/>
            <a:ext cx="530352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2"/>
          <p:cNvSpPr/>
          <p:nvPr/>
        </p:nvSpPr>
        <p:spPr>
          <a:xfrm>
            <a:off x="5852160" y="1325880"/>
            <a:ext cx="297180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5852160" y="1325880"/>
            <a:ext cx="109728" cy="804672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6016752" y="137160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Scenario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6016752" y="1627632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Recall=92%: the only scenario with relevant context. Dense-RAG F1=0.126, 4.5× the LLM-only baseline.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5852160" y="2221992"/>
            <a:ext cx="297180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5852160" y="2221992"/>
            <a:ext cx="109728" cy="804672"/>
          </a:xfrm>
          <a:prstGeom prst="rect">
            <a:avLst/>
          </a:prstGeom>
          <a:solidFill>
            <a:srgbClr val="AA0526"/>
          </a:solidFill>
          <a:ln cap="flat" cmpd="sng" w="12700">
            <a:solidFill>
              <a:srgbClr val="AA0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6016752" y="2267712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Cross-Domain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6016752" y="2523744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Recall ≤7%: injected context is almost always irrelevant. Dense-RAG F1 matches or falls below LLM-only.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5852160" y="3118104"/>
            <a:ext cx="297180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5852160" y="3118104"/>
            <a:ext cx="109728" cy="804672"/>
          </a:xfrm>
          <a:prstGeom prst="rect">
            <a:avLst/>
          </a:prstGeom>
          <a:solidFill>
            <a:srgbClr val="AA0526"/>
          </a:solidFill>
          <a:ln cap="flat" cmpd="sng" w="12700">
            <a:solidFill>
              <a:srgbClr val="AA05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6016752" y="3163824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NQ In-Domain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6016752" y="3419856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Recall=2%: HTML artifact contamination means virtually no useful context is retrieved.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5852160" y="4014216"/>
            <a:ext cx="297180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5852160" y="4014216"/>
            <a:ext cx="109728" cy="804672"/>
          </a:xfrm>
          <a:prstGeom prst="rect">
            <a:avLst/>
          </a:prstGeom>
          <a:solidFill>
            <a:srgbClr val="FDBA6B"/>
          </a:solidFill>
          <a:ln cap="flat" cmpd="sng" w="12700">
            <a:solidFill>
              <a:srgbClr val="FDB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6016752" y="4059936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Trivia In-Domain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6016752" y="431596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Recall=32%: partial retrieval gives some lift but generation failures still dominate (F1=0.060).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3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QUALITATIVE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1 — RAG Success (Scenario A: SQuAD In-Domain)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365760" y="1353312"/>
            <a:ext cx="201168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365760" y="135331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2468880" y="1353312"/>
            <a:ext cx="6400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2606040" y="1389888"/>
            <a:ext cx="6126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 whom did the Virgin Mary allegedly appear in 1858 in Lourdes France?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365760" y="1947672"/>
            <a:ext cx="201168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365760" y="194767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2468880" y="1947672"/>
            <a:ext cx="6400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2606040" y="1984248"/>
            <a:ext cx="6126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Saint Bernadette Soubirous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365760" y="2542032"/>
            <a:ext cx="2011680" cy="502920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365760" y="2542032"/>
            <a:ext cx="2011680" cy="5029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Retrieved Chunk (BM25 ✅ Dense ✅)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2468880" y="2542032"/>
            <a:ext cx="6400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2606040" y="2578608"/>
            <a:ext cx="6126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Architecturally, the school has a Catholic character. Atop the Main Building's gold dome is a golden statue of the Virgin Mary. Immediately in front of the Main Building...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365760" y="3136392"/>
            <a:ext cx="2011680" cy="5029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365760" y="3136392"/>
            <a:ext cx="2011680" cy="5029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LLM-Only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2468880" y="3136392"/>
            <a:ext cx="64008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2606040" y="3172968"/>
            <a:ext cx="6126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Virgin Mary allegedly appeared to a group of people in Lourdes, France in 1858. This event is known as the “Lourdes Miracle”...  [F1=0.000]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365760" y="3730752"/>
            <a:ext cx="2011680" cy="50292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365760" y="373075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BM25-RAG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2468880" y="3730752"/>
            <a:ext cx="6400800" cy="502920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2606040" y="3767328"/>
            <a:ext cx="6126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Virgin Mary allegedly appeared to Saint Bernadette Soubirous in 1858 in Lourdes, France.  [F1=0.353, EM=0]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365760" y="4325112"/>
            <a:ext cx="2011680" cy="502920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365760" y="432511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Dense-RAG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2468880" y="4325112"/>
            <a:ext cx="6400800" cy="502920"/>
          </a:xfrm>
          <a:prstGeom prst="rect">
            <a:avLst/>
          </a:prstGeom>
          <a:solidFill>
            <a:srgbClr val="F0FFF4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"/>
          <p:cNvSpPr/>
          <p:nvPr/>
        </p:nvSpPr>
        <p:spPr>
          <a:xfrm>
            <a:off x="2606040" y="4361688"/>
            <a:ext cx="61264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Virgin Mary allegedly appeared to Saint Bernadette Soubirous in 1858 in Lourdes, France. This event is described in detail in the text provided.  [F1=0.222, EM=0]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100445" y="4887468"/>
            <a:ext cx="894311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Insight: LLM fails to answer (F1=0.00). Retrieval provides the correct context and improves F1 to 0.353 (BM25) and 0.222 (Dense). RAG provides meaningful improvement over the baseline.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QUALITATIVE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2 — Context Poisoning (Scenario E: SQuAD→TriviaQA)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365760" y="1353312"/>
            <a:ext cx="2011680" cy="43891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365760" y="1353312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2468880" y="1353312"/>
            <a:ext cx="640080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2606040" y="1371600"/>
            <a:ext cx="6126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is in front of the Notre Dame Main Building?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365760" y="1874520"/>
            <a:ext cx="2011680" cy="43891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365760" y="1874520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2468880" y="1874520"/>
            <a:ext cx="640080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2606040" y="1892808"/>
            <a:ext cx="6126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copper statue of Christ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365760" y="2395728"/>
            <a:ext cx="2011680" cy="43891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365760" y="2395728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BM25 Retrieved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2468880" y="2395728"/>
            <a:ext cx="6400800" cy="438912"/>
          </a:xfrm>
          <a:prstGeom prst="rect">
            <a:avLst/>
          </a:prstGeom>
          <a:solidFill>
            <a:srgbClr val="FFF5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2606040" y="2414016"/>
            <a:ext cx="6126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Round One Jeopardy Template / The name of Dr. Seuss's egg-hatching elephant... — Trivia chunk about trivia games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365760" y="2916936"/>
            <a:ext cx="2011680" cy="43891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365760" y="2916936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 Retrieved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2468880" y="2916936"/>
            <a:ext cx="6400800" cy="438912"/>
          </a:xfrm>
          <a:prstGeom prst="rect">
            <a:avLst/>
          </a:prstGeom>
          <a:solidFill>
            <a:srgbClr val="FFF5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2606040" y="2935224"/>
            <a:ext cx="6126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Consisting of 27 structures resembling petals of the lotus flower that open onto a central hall around 40m high... — Trivia chunk about architecture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365760" y="3438144"/>
            <a:ext cx="2011680" cy="43891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365760" y="3438144"/>
            <a:ext cx="2011680" cy="43891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LLM-Only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2468880" y="3438144"/>
            <a:ext cx="640080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2606040" y="3456432"/>
            <a:ext cx="6126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Notre Dame Main Building, also known as the Notre Dame Cathedral or simply Notre Dame, is a massive Gothic cathedral...  [F1=0.073]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365760" y="3959352"/>
            <a:ext cx="2011680" cy="43891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365760" y="3959352"/>
            <a:ext cx="20116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BM25-RAG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2468880" y="3959352"/>
            <a:ext cx="6400800" cy="438912"/>
          </a:xfrm>
          <a:prstGeom prst="rect">
            <a:avLst/>
          </a:prstGeom>
          <a:solidFill>
            <a:srgbClr val="FFF5F5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2606040" y="3977640"/>
            <a:ext cx="6126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main building of Notre Dame Cathedral is located in front of the Notre Dame Main Building.  [F1=0.091] ← WRONG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365760" y="4480560"/>
            <a:ext cx="2011680" cy="43891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365760" y="4480560"/>
            <a:ext cx="2011680" cy="43891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Dense-RAG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2468880" y="4480560"/>
            <a:ext cx="6400800" cy="43891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2606040" y="4498848"/>
            <a:ext cx="6126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Notre Dame Main Building is behind the Basilica of Saint Mary Major. However, I'm sorry, but I cannot provide a concise, direct answer...  [F1=0.070]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365760" y="4907283"/>
            <a:ext cx="8412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8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Insight: BM25 retrieved an unrelated Jeopardy template; Dense retrieved a lotus-flower building description — both complete misses. BM25-RAG generates a circular wrong answer (F1=0.091, marginally above LLM-only F1=0.073 by chance, but still factually wrong). Dense-RAG refuses to commit and scores F1=0.070, below baseline.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5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QUALITATIVE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 3 — Generation Failure Despite Correct Retrieval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365760" y="1353312"/>
            <a:ext cx="8412480" cy="325775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502920" y="1463040"/>
            <a:ext cx="1920240" cy="43891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502920" y="146304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/>
          <p:nvPr/>
        </p:nvSpPr>
        <p:spPr>
          <a:xfrm>
            <a:off x="2514600" y="1490472"/>
            <a:ext cx="6126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Basilica of the Sacred Heart at Notre Dame is beside to which structure?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502920" y="1993392"/>
            <a:ext cx="1920240" cy="43891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502920" y="1993392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Ground Truth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2514600" y="2020824"/>
            <a:ext cx="6126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Main Building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502920" y="2523744"/>
            <a:ext cx="1920240" cy="438912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502920" y="2523744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BM25 Chunk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2514600" y="2551176"/>
            <a:ext cx="6126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Because of its Catholic identity, a number of religious buildings stand on campus... (contains the answer)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502920" y="3054096"/>
            <a:ext cx="1920240" cy="43891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5"/>
          <p:cNvSpPr/>
          <p:nvPr/>
        </p:nvSpPr>
        <p:spPr>
          <a:xfrm>
            <a:off x="502920" y="3054096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BM25-RAG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2514600" y="3081528"/>
            <a:ext cx="6126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Basilica of the Sacred Heart at Notre Dame is located next to the Old College building. The Old College building, which stands on the site of Fr....  [F1=0.074]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502920" y="3584448"/>
            <a:ext cx="1920240" cy="438912"/>
          </a:xfrm>
          <a:prstGeom prst="rect">
            <a:avLst/>
          </a:prstGeom>
          <a:solidFill>
            <a:srgbClr val="2DC653"/>
          </a:solidFill>
          <a:ln cap="flat" cmpd="sng" w="12700">
            <a:solidFill>
              <a:srgbClr val="2DC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502920" y="3584448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 Chunk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5"/>
          <p:cNvSpPr/>
          <p:nvPr/>
        </p:nvSpPr>
        <p:spPr>
          <a:xfrm>
            <a:off x="2514600" y="3611880"/>
            <a:ext cx="6126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Because of its Catholic identity... The Basilica of the Sacred Heart is immediately behind the Main Building.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502920" y="4114800"/>
            <a:ext cx="1920240" cy="438912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502920" y="4114800"/>
            <a:ext cx="1920240" cy="438912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Dense-RAG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5"/>
          <p:cNvSpPr/>
          <p:nvPr/>
        </p:nvSpPr>
        <p:spPr>
          <a:xfrm>
            <a:off x="2514600" y="4142232"/>
            <a:ext cx="6126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Basilica of the Sacred Heart is situated next to the Basilica of the Sacred Heart. This can be inferred from the following sentence in the given text...  [F1=0.065]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365760" y="4729941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Insight: Both retrievers found the correct chunk, but both models confidently hallucinated wrong answers — BM25-RAG invented "the Old College building"; Dense-RAG produced a circular answer placing the Basilica next to itself. Neither hedged; both were confidently wrong. Correct retrieval is necessary but not sufficient.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6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Root Causes &amp; Remedies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365760" y="1325880"/>
            <a:ext cx="841248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365760" y="1325880"/>
            <a:ext cx="109728" cy="804672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548640" y="13716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Cross-domain retrieval failure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548640" y="1627632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Cause: Query and corpus use different vocabulary and structure. Retriever returns unrelated chunks (93–95% failure rate).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4572000" y="1627632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5BA8"/>
                </a:solidFill>
                <a:latin typeface="Calibri"/>
                <a:ea typeface="Calibri"/>
                <a:cs typeface="Calibri"/>
                <a:sym typeface="Calibri"/>
              </a:rPr>
              <a:t>Remedy: Domain classifier to route queries to correct corpus. Confidence threshold fallback to LLM-only when similarity scores are low.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365760" y="2221992"/>
            <a:ext cx="841248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365760" y="2221992"/>
            <a:ext cx="109728" cy="804672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548640" y="226771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 poisoning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548640" y="2523744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Cause: Retrieved irrelevant chunks actively confuse the generator. Model produces confident wrong answers instead of abstaining.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4572000" y="2523744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5BA8"/>
                </a:solidFill>
                <a:latin typeface="Calibri"/>
                <a:ea typeface="Calibri"/>
                <a:cs typeface="Calibri"/>
                <a:sym typeface="Calibri"/>
              </a:rPr>
              <a:t>Remedy: Relevance filtering before generation. Instruction tuning the model to abstain when context is clearly off-topic.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365760" y="3118104"/>
            <a:ext cx="841248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365760" y="3118104"/>
            <a:ext cx="109728" cy="804672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548640" y="316382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NQ HTML contamination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548640" y="3419856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Cause: Wikipedia HTML in NQ passages left CSS classes (.mw-spinner), JS, and navigation boilerplate after naive tag stripping.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4572000" y="3419856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5BA8"/>
                </a:solidFill>
                <a:latin typeface="Calibri"/>
                <a:ea typeface="Calibri"/>
                <a:cs typeface="Calibri"/>
                <a:sym typeface="Calibri"/>
              </a:rPr>
              <a:t>Remedy: Multi-stage cleaning: strip script/style blocks first, then tags, then CSS blocks, then collapse whitespace.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365760" y="4014216"/>
            <a:ext cx="8412480" cy="8046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365760" y="4014216"/>
            <a:ext cx="109728" cy="804672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548640" y="4059936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Generation over-verbosity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548640" y="431596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Cause: Model paraphrases the answer rather than extracting it. Correct answer buried in longer response, reducing F1 against short ground truth.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4572000" y="431596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B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5BA8"/>
                </a:solidFill>
                <a:latin typeface="Calibri"/>
                <a:ea typeface="Calibri"/>
                <a:cs typeface="Calibri"/>
                <a:sym typeface="Calibri"/>
              </a:rPr>
              <a:t>Remedy: Shorter max_new_tokens, stronger extraction instruction in prompt, or constrained decoding.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7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365760" y="22860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7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Directions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365760" y="1207008"/>
            <a:ext cx="8412480" cy="2743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365760" y="1325880"/>
            <a:ext cx="416052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365760" y="1325880"/>
            <a:ext cx="502920" cy="10972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7"/>
          <p:cNvSpPr/>
          <p:nvPr/>
        </p:nvSpPr>
        <p:spPr>
          <a:xfrm>
            <a:off x="365760" y="132588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960120" y="1417320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Domain-Aware Routing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960120" y="1764792"/>
            <a:ext cx="34564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Lightweight classifier routes queries to the correct corpus. Confidence-based fallback to LLM-only when top-K similarity is below threshold.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365760" y="2532888"/>
            <a:ext cx="416052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365760" y="2532888"/>
            <a:ext cx="502920" cy="1097280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365760" y="2532888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960120" y="2624328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Fine-Tuned Dense Retrieval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960120" y="2971800"/>
            <a:ext cx="34564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Domain-specific fine-tuning of MiniLM using DPR-style contrastive learning. Would substantially improve in-domain recall for NQ and TriviaQA.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365760" y="3739896"/>
            <a:ext cx="416052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365760" y="3739896"/>
            <a:ext cx="502920" cy="10972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365760" y="3739896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960120" y="3831336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Hybrid BM25 + Dense (RRF)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960120" y="4178808"/>
            <a:ext cx="34564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Reciprocal Rank Fusion combines lexical and semantic retrieval. BM25 and dense often retrieve different correct chunks — fusion improves recall.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4800600" y="1325880"/>
            <a:ext cx="416052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4800600" y="1325880"/>
            <a:ext cx="502920" cy="10972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4800600" y="132588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5394960" y="1417320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Long-Form Answer 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5394960" y="1764792"/>
            <a:ext cx="34564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Token F1 fails for paragraph-length answers. Evaluate with BERTScore or ROUGE-L. Would enable re-evaluation of PubMedQA.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4800600" y="2532888"/>
            <a:ext cx="416052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4800600" y="2532888"/>
            <a:ext cx="502920" cy="1097280"/>
          </a:xfrm>
          <a:prstGeom prst="rect">
            <a:avLst/>
          </a:prstGeom>
          <a:solidFill>
            <a:srgbClr val="2E5BA8"/>
          </a:solidFill>
          <a:ln cap="flat" cmpd="sng" w="12700">
            <a:solidFill>
              <a:srgbClr val="2E5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4800600" y="2532888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5394960" y="2624328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Multi-Model Generator Study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5394960" y="2971800"/>
            <a:ext cx="34564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Mistral-7B, and other models, to evaluate RAG performance across a wider variety of situations.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4800600" y="3739896"/>
            <a:ext cx="4160520" cy="1097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4800600" y="3739896"/>
            <a:ext cx="502920" cy="109728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4800600" y="3739896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7"/>
          <p:cNvSpPr/>
          <p:nvPr/>
        </p:nvSpPr>
        <p:spPr>
          <a:xfrm>
            <a:off x="5394960" y="3831336"/>
            <a:ext cx="3456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Trebuchet MS"/>
                <a:ea typeface="Trebuchet MS"/>
                <a:cs typeface="Trebuchet MS"/>
                <a:sym typeface="Trebuchet MS"/>
              </a:rPr>
              <a:t>Adversarial Cross-Domain Tests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5394960" y="4178808"/>
            <a:ext cx="345643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Construct scenarios where retrieved chunks are semantically similar but factually wrong. Precisely measure context poisoning susceptibility.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8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8"/>
          <p:cNvSpPr/>
          <p:nvPr/>
        </p:nvSpPr>
        <p:spPr>
          <a:xfrm>
            <a:off x="457200" y="914400"/>
            <a:ext cx="8321040" cy="6858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8"/>
          <p:cNvSpPr/>
          <p:nvPr/>
        </p:nvSpPr>
        <p:spPr>
          <a:xfrm>
            <a:off x="640080" y="9601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Trebuchet MS"/>
                <a:ea typeface="Trebuchet MS"/>
                <a:cs typeface="Trebuchet MS"/>
                <a:sym typeface="Trebuchet MS"/>
              </a:rPr>
              <a:t>In-domain RAG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/>
          <p:nvPr/>
        </p:nvSpPr>
        <p:spPr>
          <a:xfrm>
            <a:off x="640080" y="12344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Dense RAG: SQuAD F1 0.028 → 0.126 (4.5×). Retrieval improves generation when corpus and query align.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457200" y="1691640"/>
            <a:ext cx="8321040" cy="6858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8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8"/>
          <p:cNvSpPr/>
          <p:nvPr/>
        </p:nvSpPr>
        <p:spPr>
          <a:xfrm>
            <a:off x="640080" y="17373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Trebuchet MS"/>
                <a:ea typeface="Trebuchet MS"/>
                <a:cs typeface="Trebuchet MS"/>
                <a:sym typeface="Trebuchet MS"/>
              </a:rPr>
              <a:t>Cross-domain RAG hurts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640080" y="20116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Most cross-domain scenarios show near-zero or negative impact. Domain mismatch severely limits RAG gains.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8"/>
          <p:cNvSpPr/>
          <p:nvPr/>
        </p:nvSpPr>
        <p:spPr>
          <a:xfrm>
            <a:off x="457200" y="2468880"/>
            <a:ext cx="8321040" cy="6858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8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8"/>
          <p:cNvSpPr/>
          <p:nvPr/>
        </p:nvSpPr>
        <p:spPr>
          <a:xfrm>
            <a:off x="640080" y="25146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Trebuchet MS"/>
                <a:ea typeface="Trebuchet MS"/>
                <a:cs typeface="Trebuchet MS"/>
                <a:sym typeface="Trebuchet MS"/>
              </a:rPr>
              <a:t>Retrieval failure dominates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640080" y="27889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93–95% retrieval failure cross-domain. Domain gap defeats both BM25 and dense.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457200" y="3246120"/>
            <a:ext cx="8321040" cy="6858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8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8"/>
          <p:cNvSpPr/>
          <p:nvPr/>
        </p:nvSpPr>
        <p:spPr>
          <a:xfrm>
            <a:off x="640080" y="32918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Trebuchet MS"/>
                <a:ea typeface="Trebuchet MS"/>
                <a:cs typeface="Trebuchet MS"/>
                <a:sym typeface="Trebuchet MS"/>
              </a:rPr>
              <a:t>Dense &gt; BM25 in-domain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640080" y="35661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Dense retrieval outperforms BM25 in most in-domain scenarios (Scenarios A and B), though BM25 edges Dense in Scenario C (0.066 vs 0.060). The advantage disappears entirely cross-domain.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457200" y="4023360"/>
            <a:ext cx="8321040" cy="685800"/>
          </a:xfrm>
          <a:prstGeom prst="rect">
            <a:avLst/>
          </a:prstGeom>
          <a:solidFill>
            <a:srgbClr val="FFFFFF">
              <a:alpha val="7843"/>
            </a:srgbClr>
          </a:solidFill>
          <a:ln cap="flat" cmpd="sng" w="9525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8"/>
          <p:cNvSpPr/>
          <p:nvPr/>
        </p:nvSpPr>
        <p:spPr>
          <a:xfrm>
            <a:off x="457200" y="4023360"/>
            <a:ext cx="73152" cy="6858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8"/>
          <p:cNvSpPr/>
          <p:nvPr/>
        </p:nvSpPr>
        <p:spPr>
          <a:xfrm>
            <a:off x="640080" y="40690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 poisoning is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8"/>
          <p:cNvSpPr/>
          <p:nvPr/>
        </p:nvSpPr>
        <p:spPr>
          <a:xfrm>
            <a:off x="640080" y="43434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Irrelevant context causes confident wrong answers — not just low scores, actively wrong predictions.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Aditya Jekkula  ·  Ibaad Mohammed  ·  Nate Dailey  ·  May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2026-05-11T15:21:14Z</dcterms:created>
  <dc:creator>PptxGenJS</dc:creator>
</cp:coreProperties>
</file>